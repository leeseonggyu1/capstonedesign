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8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Gamma-CenterNet 실험 정리 | 2026-05-21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74980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Gamma 값 End-to-End 학습 구조와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결과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94944" y="1993392"/>
            <a:ext cx="7498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CenterNet 앞단에 전역 감마 보정 모듈을 붙였을 때, 검출 성능이 어떻게 바뀌는지 정리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0" y="749808"/>
            <a:ext cx="2971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5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58200" y="960120"/>
            <a:ext cx="1097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58200" y="1280160"/>
            <a:ext cx="22402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감마는 충분히 학습하면 baseline을 넘었고, 최고 모델은 AP 0.589를 기록했다.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41248" y="3063240"/>
            <a:ext cx="28346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7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063240"/>
            <a:ext cx="54864" cy="1060704"/>
          </a:xfrm>
          <a:prstGeom prst="rect">
            <a:avLst/>
          </a:prstGeom>
          <a:solidFill>
            <a:srgbClr val="2F3A45"/>
          </a:solidFill>
          <a:ln w="12700">
            <a:solidFill>
              <a:srgbClr val="2F3A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227832"/>
            <a:ext cx="2514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AP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3493008"/>
            <a:ext cx="2514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F3A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0.491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05840" y="3849624"/>
            <a:ext cx="2514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CenterNet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3977640" y="3063240"/>
            <a:ext cx="28346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7D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77640" y="3063240"/>
            <a:ext cx="54864" cy="106070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42232" y="3227832"/>
            <a:ext cx="2514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Gamma 64ep AP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42232" y="3493008"/>
            <a:ext cx="2514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0.577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42232" y="3849624"/>
            <a:ext cx="2514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학습 후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7114032" y="3063240"/>
            <a:ext cx="28346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CFD7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14032" y="3063240"/>
            <a:ext cx="54864" cy="1060704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78624" y="3227832"/>
            <a:ext cx="2514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 Global Gamma AP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278624" y="3493008"/>
            <a:ext cx="25146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A7D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0.589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278624" y="3849624"/>
            <a:ext cx="2514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FT 50epoch checkpoint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94944" y="4800600"/>
            <a:ext cx="1005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흐름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4944" y="5138928"/>
            <a:ext cx="9875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감마값이 학습되는 구조   2. loss와 gradient 흐름   3. baseline/전역 감마 성능 비교   4. 다음 분석 방향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| 연구 질문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감마 보정은 고정 전처리인가, 검출 loss로 학습 가능한 모듈인가?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8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Gamma-CenterNet 실험 정리 | 2026-05-21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58368" y="1389888"/>
            <a:ext cx="2286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실험의 관점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58368" y="1737360"/>
            <a:ext cx="87782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감마값을 사람이 고정하지 않고, CenterNet의 검출 loss가 전역 감마 모듈까지 역전파되도록 연결했다.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1417320" y="2743200"/>
            <a:ext cx="3886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4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2953512"/>
            <a:ext cx="1143000" cy="292608"/>
          </a:xfrm>
          <a:prstGeom prst="rect">
            <a:avLst/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3026664"/>
            <a:ext cx="1143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기준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45920" y="3456432"/>
            <a:ext cx="3017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F3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4069080"/>
            <a:ext cx="3154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RGB 이미지가 바로 CenterNet으로 들어감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2743200"/>
            <a:ext cx="3886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4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953512"/>
            <a:ext cx="1143000" cy="292608"/>
          </a:xfrm>
          <a:prstGeom prst="rect">
            <a:avLst/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026664"/>
            <a:ext cx="114300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0" y="3456432"/>
            <a:ext cx="30175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4069080"/>
            <a:ext cx="3154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전체에 대해 gamma 1개를 예측하고 x^gamma 적용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4944" y="5349240"/>
            <a:ext cx="10149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522976"/>
            <a:ext cx="9738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포인트: 감마값의 '정답 label'을 맞히는 문제가 아니라, 감마 보정 후 detection loss가 줄어드는 방향으로 GammaNet이 업데이트되는 문제다.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| End-to-End 구조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GammaNet은 CenterNet 앞단에서 이미지별 감마값을 만든다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8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Gamma-CenterNet 실험 정리 | 2026-05-21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417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4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87168"/>
            <a:ext cx="12344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이미지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9504"/>
            <a:ext cx="12344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tensor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39112" y="2788920"/>
            <a:ext cx="338328" cy="0"/>
          </a:xfrm>
          <a:prstGeom prst="line">
            <a:avLst/>
          </a:prstGeom>
          <a:noFill/>
          <a:ln w="19050">
            <a:solidFill>
              <a:srgbClr val="2F3A45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96312" y="2240280"/>
            <a:ext cx="1828800" cy="1097280"/>
          </a:xfrm>
          <a:prstGeom prst="rect">
            <a:avLst/>
          </a:prstGeom>
          <a:solidFill>
            <a:srgbClr val="DDEF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2487168"/>
            <a:ext cx="16459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GammaNet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87752" y="2889504"/>
            <a:ext cx="1645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 + pooling + MLP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0.5~2.0 범위 gamma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98264" y="2788920"/>
            <a:ext cx="338328" cy="0"/>
          </a:xfrm>
          <a:prstGeom prst="line">
            <a:avLst/>
          </a:prstGeom>
          <a:noFill/>
          <a:ln w="19050">
            <a:solidFill>
              <a:srgbClr val="2F3A4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55464" y="224028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4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46904" y="2487168"/>
            <a:ext cx="17373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감마 보정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46904" y="2889504"/>
            <a:ext cx="17373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x' = clamp(x)^gamma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48856" y="2788920"/>
            <a:ext cx="338328" cy="0"/>
          </a:xfrm>
          <a:prstGeom prst="line">
            <a:avLst/>
          </a:prstGeom>
          <a:noFill/>
          <a:ln w="19050">
            <a:solidFill>
              <a:srgbClr val="2F3A4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06056" y="2240280"/>
            <a:ext cx="1600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4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97496" y="2487168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CenterNet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97496" y="2889504"/>
            <a:ext cx="1417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heatmap / wh / offset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979408" y="2788920"/>
            <a:ext cx="338328" cy="0"/>
          </a:xfrm>
          <a:prstGeom prst="line">
            <a:avLst/>
          </a:prstGeom>
          <a:noFill/>
          <a:ln w="19050">
            <a:solidFill>
              <a:srgbClr val="2F3A45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436608" y="22402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4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28048" y="2487168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Detection loss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28048" y="2889504"/>
            <a:ext cx="15544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 + 0.1*wh + off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80360" y="3566160"/>
            <a:ext cx="5394960" cy="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80360" y="3566160"/>
            <a:ext cx="0" cy="59436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566160"/>
            <a:ext cx="0" cy="59436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4297680"/>
            <a:ext cx="5029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loss.backward()에서 detection loss의 gradient가 감마 보정 연산을 지나 GammaNet 파라미터까지 전달됨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7240" y="5074920"/>
            <a:ext cx="4389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5276088"/>
            <a:ext cx="1828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9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gamma label 없음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05840" y="5532120"/>
            <a:ext cx="3703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신호는 검출 loss이며, gamma_loss는 gamma=1 근처를 유지하려는 regularizer다.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5532120" y="5074920"/>
            <a:ext cx="43891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9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5276088"/>
            <a:ext cx="2011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결과적으로 학습되는 것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760720" y="5532120"/>
            <a:ext cx="3749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이미지를 보고 검출에 유리한 감마값을 출력하는 함수 GammaNet(image) -&gt; gamma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| Loss 해석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감마 loss는 정답 감마 학습이 아니라, 감마값 폭주를 막는 보조항이다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8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Gamma-CenterNet 실험 정리 | 2026-05-21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4709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4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55648"/>
            <a:ext cx="1554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loss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3977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2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loss = det_loss + 0.01 * gamma_loss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41148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F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det_loss = hm_loss + 0.1 * wh_loss + off_loss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337560"/>
            <a:ext cx="3931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F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gamma_loss = mean((gamma - 1.0)^2)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397764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즉, 핵심 학습 신호는 검출 성능이다. gamma_loss는 gamma가 1에서 너무 멀어지지 않게 하는 안정장치에 가깝다.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9320" y="1600200"/>
            <a:ext cx="4251960" cy="530352"/>
          </a:xfrm>
          <a:prstGeom prst="rect">
            <a:avLst/>
          </a:prstGeom>
          <a:solidFill>
            <a:srgbClr val="F7DEDE"/>
          </a:solidFill>
          <a:ln w="12700">
            <a:solidFill>
              <a:srgbClr val="F7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1755648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03720" y="1719072"/>
            <a:ext cx="2468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밝기별 정답 gamma를 맞힌다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9582912" y="1755648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2386584"/>
            <a:ext cx="4251960" cy="530352"/>
          </a:xfrm>
          <a:prstGeom prst="rect">
            <a:avLst/>
          </a:prstGeom>
          <a:solidFill>
            <a:srgbClr val="F7DEDE"/>
          </a:solidFill>
          <a:ln w="12700">
            <a:solidFill>
              <a:srgbClr val="F7DE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2542032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9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 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903720" y="2505456"/>
            <a:ext cx="2468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올려보고 내려본 뒤 좋은 쪽을 고른다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9582912" y="2542032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9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아님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89320" y="3172968"/>
            <a:ext cx="4251960" cy="530352"/>
          </a:xfrm>
          <a:prstGeom prst="rect">
            <a:avLst/>
          </a:prstGeom>
          <a:solidFill>
            <a:srgbClr val="E3F0DF"/>
          </a:solidFill>
          <a:ln w="12700">
            <a:solidFill>
              <a:srgbClr val="E3F0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328416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맞는 해석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03720" y="3291840"/>
            <a:ext cx="2468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검출 loss가 줄어드는 방향으로 GammaNet 가중치가 업데이트된다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9582912" y="3328416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89320" y="3959352"/>
            <a:ext cx="4251960" cy="530352"/>
          </a:xfrm>
          <a:prstGeom prst="rect">
            <a:avLst/>
          </a:prstGeom>
          <a:solidFill>
            <a:srgbClr val="E3F0DF"/>
          </a:solidFill>
          <a:ln w="12700">
            <a:solidFill>
              <a:srgbClr val="E3F0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4114800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03720" y="4078224"/>
            <a:ext cx="246888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학습이 진행되면 이미지별 gamma 예측 함수가 바뀐다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9582912" y="4114800"/>
            <a:ext cx="411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맞음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1520" y="5532120"/>
            <a:ext cx="98755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문장: "감마값 자체의 ground truth를 학습한 것이 아니라, 감마 보정을 거친 이미지에서 객체 검출 loss가 줄어들도록 GammaNet이 함께 학습된다."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| 전역 감마 모델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감마는 이미지 1장당 scalar gamma 1개를 예측한다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8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Gamma-CenterNet 실험 정리 | 2026-05-21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731520" y="1444752"/>
            <a:ext cx="99669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GammaNet forward 흐름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371600" y="2633472"/>
            <a:ext cx="1463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이미지 전체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34440" y="2999232"/>
            <a:ext cx="1783080" cy="841248"/>
          </a:xfrm>
          <a:prstGeom prst="rect">
            <a:avLst/>
          </a:prstGeom>
          <a:solidFill>
            <a:srgbClr val="EEF7F4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6464" y="3127248"/>
            <a:ext cx="1417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Adaptive Pool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MLP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3419856"/>
            <a:ext cx="1051560" cy="0"/>
          </a:xfrm>
          <a:prstGeom prst="line">
            <a:avLst/>
          </a:prstGeom>
          <a:noFill/>
          <a:ln w="19050">
            <a:solidFill>
              <a:srgbClr val="2F3A4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3035808"/>
            <a:ext cx="1280160" cy="768096"/>
          </a:xfrm>
          <a:prstGeom prst="rect">
            <a:avLst/>
          </a:prstGeom>
          <a:solidFill>
            <a:srgbClr val="DDEFEA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182112"/>
            <a:ext cx="914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0.5~2.0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4768" y="3419856"/>
            <a:ext cx="1033272" cy="0"/>
          </a:xfrm>
          <a:prstGeom prst="line">
            <a:avLst/>
          </a:prstGeom>
          <a:noFill/>
          <a:ln w="19050">
            <a:solidFill>
              <a:srgbClr val="2F3A4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2999232"/>
            <a:ext cx="1874520" cy="841248"/>
          </a:xfrm>
          <a:prstGeom prst="rect">
            <a:avLst/>
          </a:prstGeom>
          <a:solidFill>
            <a:srgbClr val="F6F8F6"/>
          </a:solidFill>
          <a:ln w="12700">
            <a:solidFill>
              <a:srgbClr val="CDD5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3200400"/>
            <a:ext cx="14630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enhanced image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x' = x^gamma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4736592"/>
            <a:ext cx="2834640" cy="713232"/>
          </a:xfrm>
          <a:prstGeom prst="rect">
            <a:avLst/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901184"/>
            <a:ext cx="1097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단위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34440" y="5157216"/>
            <a:ext cx="2103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1장당 gamma 1개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160520" y="4736592"/>
            <a:ext cx="2834640" cy="713232"/>
          </a:xfrm>
          <a:prstGeom prst="rect">
            <a:avLst/>
          </a:prstGeom>
          <a:solidFill>
            <a:srgbClr val="EEF0F1"/>
          </a:solidFill>
          <a:ln w="12700">
            <a:solidFill>
              <a:srgbClr val="EEF0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4901184"/>
            <a:ext cx="1097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F3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특징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0" y="5157216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밝기뿐 아니라 색/대비도 포함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315200" y="4736592"/>
            <a:ext cx="2834640" cy="713232"/>
          </a:xfrm>
          <a:prstGeom prst="rect">
            <a:avLst/>
          </a:prstGeom>
          <a:solidFill>
            <a:srgbClr val="E3F0DF"/>
          </a:solidFill>
          <a:ln w="12700">
            <a:solidFill>
              <a:srgbClr val="E3F0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4901184"/>
            <a:ext cx="10972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신호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43800" y="5157216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gamma가 아닌 detection loss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77240" y="5897880"/>
            <a:ext cx="9829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6016752"/>
            <a:ext cx="91440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표는 baseline과 전역 감마 학습량별 checkpoint만 비교한다.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6EA8"/>
          </a:solidFill>
          <a:ln w="12700">
            <a:solidFill>
              <a:srgbClr val="3B6E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6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| 실험 설정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RTX4090에서 batch size 8로 학습하고, 중간 checkpoint를 평가했다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8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Gamma-CenterNet 실험 정리 | 2026-05-21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749808" y="1508760"/>
            <a:ext cx="3977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27632"/>
            <a:ext cx="10515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B6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1993392" y="1609344"/>
            <a:ext cx="2377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ctdet / CenterNet hourglass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49808" y="2039112"/>
            <a:ext cx="3977640" cy="384048"/>
          </a:xfrm>
          <a:prstGeom prst="rect">
            <a:avLst/>
          </a:prstGeom>
          <a:solidFill>
            <a:srgbClr val="F0F3F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57984"/>
            <a:ext cx="10515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B6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993392" y="2139696"/>
            <a:ext cx="2377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8,049 / val 3,450 samples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9808" y="2569464"/>
            <a:ext cx="3977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688336"/>
            <a:ext cx="10515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B6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1993392" y="2670048"/>
            <a:ext cx="2377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512 x 512, output 128 x 128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9808" y="3099816"/>
            <a:ext cx="3977640" cy="384048"/>
          </a:xfrm>
          <a:prstGeom prst="rect">
            <a:avLst/>
          </a:prstGeom>
          <a:solidFill>
            <a:srgbClr val="F0F3F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218688"/>
            <a:ext cx="10515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B6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1993392" y="3200400"/>
            <a:ext cx="2377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NVIDIA RTX 4090, batch size 8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9808" y="3630168"/>
            <a:ext cx="3977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749040"/>
            <a:ext cx="10515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B6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Wrapper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993392" y="3730752"/>
            <a:ext cx="2377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gamma_net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94960" y="1371600"/>
            <a:ext cx="4754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4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B6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흐름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87568" y="2194560"/>
            <a:ext cx="310896" cy="310896"/>
          </a:xfrm>
          <a:prstGeom prst="rect">
            <a:avLst/>
          </a:prstGeom>
          <a:solidFill>
            <a:srgbClr val="EAF1F4"/>
          </a:solidFill>
          <a:ln w="12700">
            <a:solidFill>
              <a:srgbClr val="D3DA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87568" y="2276856"/>
            <a:ext cx="310896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B6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6172200" y="2212848"/>
            <a:ext cx="2926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4epoch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6172200" y="2450592"/>
            <a:ext cx="31089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성능 확인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5687568" y="2724912"/>
            <a:ext cx="310896" cy="310896"/>
          </a:xfrm>
          <a:prstGeom prst="rect">
            <a:avLst/>
          </a:prstGeom>
          <a:solidFill>
            <a:srgbClr val="EAF1F4"/>
          </a:solidFill>
          <a:ln w="12700">
            <a:solidFill>
              <a:srgbClr val="D3DA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2807208"/>
            <a:ext cx="310896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B6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172200" y="2743200"/>
            <a:ext cx="2926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64epoch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6172200" y="2980944"/>
            <a:ext cx="31089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 증가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687568" y="3255264"/>
            <a:ext cx="310896" cy="310896"/>
          </a:xfrm>
          <a:prstGeom prst="rect">
            <a:avLst/>
          </a:prstGeom>
          <a:solidFill>
            <a:srgbClr val="E3F0DF"/>
          </a:solidFill>
          <a:ln w="12700">
            <a:solidFill>
              <a:srgbClr val="D3DA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87568" y="3337560"/>
            <a:ext cx="310896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6172200" y="3273552"/>
            <a:ext cx="2926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 5e-5 fine-tuning 60epoch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6172200" y="3511296"/>
            <a:ext cx="31089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10epoch마다 checkpoint 저장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5687568" y="3785616"/>
            <a:ext cx="310896" cy="310896"/>
          </a:xfrm>
          <a:prstGeom prst="rect">
            <a:avLst/>
          </a:prstGeom>
          <a:solidFill>
            <a:srgbClr val="EAF1F4"/>
          </a:solidFill>
          <a:ln w="12700">
            <a:solidFill>
              <a:srgbClr val="D3DAD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87568" y="3867912"/>
            <a:ext cx="310896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B6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60" dirty="0"/>
          </a:p>
        </p:txBody>
      </p:sp>
      <p:sp>
        <p:nvSpPr>
          <p:cNvPr id="37" name="Text 35"/>
          <p:cNvSpPr/>
          <p:nvPr/>
        </p:nvSpPr>
        <p:spPr>
          <a:xfrm>
            <a:off x="6172200" y="3803904"/>
            <a:ext cx="2926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checkpoint validation 평가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6172200" y="4041648"/>
            <a:ext cx="31089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AP 모델 선택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749808" y="5074920"/>
            <a:ext cx="9372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7552" y="5285232"/>
            <a:ext cx="1325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checkpoint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514600" y="5248656"/>
            <a:ext cx="4114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global_gamma_ft_lr5e5_60ep / model_50.pth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903720" y="5285232"/>
            <a:ext cx="292608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 0.589, AP50 0.811, AP75 0.649, AR100 0.671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| 결과 비교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모델은 전역 감마 fine-tuning 50epoch checkpoint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8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Gamma-CenterNet 실험 정리 | 2026-05-21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8915400" cy="393192"/>
          </a:xfrm>
          <a:prstGeom prst="rect">
            <a:avLst/>
          </a:prstGeom>
          <a:solidFill>
            <a:srgbClr val="2F3A45"/>
          </a:solidFill>
          <a:ln w="12700">
            <a:solidFill>
              <a:srgbClr val="2F3A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90472"/>
            <a:ext cx="33284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096512" y="1490472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102352" y="1490472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AP50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08192" y="1490472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AP75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14032" y="1490472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AR100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119872" y="1490472"/>
            <a:ext cx="12710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Best 대비 AP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" y="1764792"/>
            <a:ext cx="8915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883664"/>
            <a:ext cx="33284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CenterNet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4096512" y="1883664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0.491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5102352" y="1883664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0.685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6108192" y="1883664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0.577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7114032" y="1883664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0.583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8119872" y="1883664"/>
            <a:ext cx="12710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-0.098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548640" y="2157984"/>
            <a:ext cx="8915400" cy="393192"/>
          </a:xfrm>
          <a:prstGeom prst="rect">
            <a:avLst/>
          </a:prstGeom>
          <a:solidFill>
            <a:srgbClr val="F0F3F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276856"/>
            <a:ext cx="33284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4epoch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096512" y="2276856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0.439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5102352" y="2276856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0.680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6108192" y="2276856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0.486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7114032" y="2276856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0.566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8119872" y="2276856"/>
            <a:ext cx="12710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-0.150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548640" y="2551176"/>
            <a:ext cx="8915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2670048"/>
            <a:ext cx="33284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64epoch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096512" y="2670048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0.577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5102352" y="2670048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0.816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6108192" y="2670048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0.639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7114032" y="2670048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0.671</a:t>
            </a:r>
            <a:endParaRPr lang="en-US" sz="870" dirty="0"/>
          </a:p>
        </p:txBody>
      </p:sp>
      <p:sp>
        <p:nvSpPr>
          <p:cNvPr id="33" name="Text 31"/>
          <p:cNvSpPr/>
          <p:nvPr/>
        </p:nvSpPr>
        <p:spPr>
          <a:xfrm>
            <a:off x="8119872" y="2670048"/>
            <a:ext cx="12710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-0.012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548640" y="2944368"/>
            <a:ext cx="8915400" cy="393192"/>
          </a:xfrm>
          <a:prstGeom prst="rect">
            <a:avLst/>
          </a:prstGeom>
          <a:solidFill>
            <a:srgbClr val="F0F3F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3063240"/>
            <a:ext cx="33284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FT 10epoch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096512" y="3063240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0.578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5102352" y="3063240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0.819</a:t>
            </a:r>
            <a:endParaRPr lang="en-US" sz="870" dirty="0"/>
          </a:p>
        </p:txBody>
      </p:sp>
      <p:sp>
        <p:nvSpPr>
          <p:cNvPr id="38" name="Text 36"/>
          <p:cNvSpPr/>
          <p:nvPr/>
        </p:nvSpPr>
        <p:spPr>
          <a:xfrm>
            <a:off x="6108192" y="3063240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0.635</a:t>
            </a:r>
            <a:endParaRPr lang="en-US" sz="870" dirty="0"/>
          </a:p>
        </p:txBody>
      </p:sp>
      <p:sp>
        <p:nvSpPr>
          <p:cNvPr id="39" name="Text 37"/>
          <p:cNvSpPr/>
          <p:nvPr/>
        </p:nvSpPr>
        <p:spPr>
          <a:xfrm>
            <a:off x="7114032" y="3063240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0.671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8119872" y="3063240"/>
            <a:ext cx="12710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-0.011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548640" y="3337560"/>
            <a:ext cx="8915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" y="3456432"/>
            <a:ext cx="33284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FT 20epoch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4096512" y="3456432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0.584</a:t>
            </a:r>
            <a:endParaRPr lang="en-US" sz="870" dirty="0"/>
          </a:p>
        </p:txBody>
      </p:sp>
      <p:sp>
        <p:nvSpPr>
          <p:cNvPr id="44" name="Text 42"/>
          <p:cNvSpPr/>
          <p:nvPr/>
        </p:nvSpPr>
        <p:spPr>
          <a:xfrm>
            <a:off x="5102352" y="3456432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0.819</a:t>
            </a:r>
            <a:endParaRPr lang="en-US" sz="870" dirty="0"/>
          </a:p>
        </p:txBody>
      </p:sp>
      <p:sp>
        <p:nvSpPr>
          <p:cNvPr id="45" name="Text 43"/>
          <p:cNvSpPr/>
          <p:nvPr/>
        </p:nvSpPr>
        <p:spPr>
          <a:xfrm>
            <a:off x="6108192" y="3456432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0.633</a:t>
            </a:r>
            <a:endParaRPr lang="en-US" sz="870" dirty="0"/>
          </a:p>
        </p:txBody>
      </p:sp>
      <p:sp>
        <p:nvSpPr>
          <p:cNvPr id="46" name="Text 44"/>
          <p:cNvSpPr/>
          <p:nvPr/>
        </p:nvSpPr>
        <p:spPr>
          <a:xfrm>
            <a:off x="7114032" y="3456432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0.680</a:t>
            </a:r>
            <a:endParaRPr lang="en-US" sz="870" dirty="0"/>
          </a:p>
        </p:txBody>
      </p:sp>
      <p:sp>
        <p:nvSpPr>
          <p:cNvPr id="47" name="Text 45"/>
          <p:cNvSpPr/>
          <p:nvPr/>
        </p:nvSpPr>
        <p:spPr>
          <a:xfrm>
            <a:off x="8119872" y="3456432"/>
            <a:ext cx="12710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-0.005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548640" y="3730752"/>
            <a:ext cx="8915400" cy="393192"/>
          </a:xfrm>
          <a:prstGeom prst="rect">
            <a:avLst/>
          </a:prstGeom>
          <a:solidFill>
            <a:srgbClr val="F0F3F1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3849624"/>
            <a:ext cx="33284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FT 30epoch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4096512" y="3849624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0.581</a:t>
            </a:r>
            <a:endParaRPr lang="en-US" sz="870" dirty="0"/>
          </a:p>
        </p:txBody>
      </p:sp>
      <p:sp>
        <p:nvSpPr>
          <p:cNvPr id="51" name="Text 49"/>
          <p:cNvSpPr/>
          <p:nvPr/>
        </p:nvSpPr>
        <p:spPr>
          <a:xfrm>
            <a:off x="5102352" y="3849624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0.813</a:t>
            </a:r>
            <a:endParaRPr lang="en-US" sz="870" dirty="0"/>
          </a:p>
        </p:txBody>
      </p:sp>
      <p:sp>
        <p:nvSpPr>
          <p:cNvPr id="52" name="Text 50"/>
          <p:cNvSpPr/>
          <p:nvPr/>
        </p:nvSpPr>
        <p:spPr>
          <a:xfrm>
            <a:off x="6108192" y="3849624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0.654</a:t>
            </a:r>
            <a:endParaRPr lang="en-US" sz="870" dirty="0"/>
          </a:p>
        </p:txBody>
      </p:sp>
      <p:sp>
        <p:nvSpPr>
          <p:cNvPr id="53" name="Text 51"/>
          <p:cNvSpPr/>
          <p:nvPr/>
        </p:nvSpPr>
        <p:spPr>
          <a:xfrm>
            <a:off x="7114032" y="3849624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0.671</a:t>
            </a:r>
            <a:endParaRPr lang="en-US" sz="870" dirty="0"/>
          </a:p>
        </p:txBody>
      </p:sp>
      <p:sp>
        <p:nvSpPr>
          <p:cNvPr id="54" name="Text 52"/>
          <p:cNvSpPr/>
          <p:nvPr/>
        </p:nvSpPr>
        <p:spPr>
          <a:xfrm>
            <a:off x="8119872" y="3849624"/>
            <a:ext cx="12710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-0.008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548640" y="4123944"/>
            <a:ext cx="8915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" y="4242816"/>
            <a:ext cx="33284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FT 40epoch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4096512" y="4242816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0.586</a:t>
            </a:r>
            <a:endParaRPr lang="en-US" sz="870" dirty="0"/>
          </a:p>
        </p:txBody>
      </p:sp>
      <p:sp>
        <p:nvSpPr>
          <p:cNvPr id="58" name="Text 56"/>
          <p:cNvSpPr/>
          <p:nvPr/>
        </p:nvSpPr>
        <p:spPr>
          <a:xfrm>
            <a:off x="5102352" y="4242816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0.814</a:t>
            </a:r>
            <a:endParaRPr lang="en-US" sz="870" dirty="0"/>
          </a:p>
        </p:txBody>
      </p:sp>
      <p:sp>
        <p:nvSpPr>
          <p:cNvPr id="59" name="Text 57"/>
          <p:cNvSpPr/>
          <p:nvPr/>
        </p:nvSpPr>
        <p:spPr>
          <a:xfrm>
            <a:off x="6108192" y="4242816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0.646</a:t>
            </a:r>
            <a:endParaRPr lang="en-US" sz="870" dirty="0"/>
          </a:p>
        </p:txBody>
      </p:sp>
      <p:sp>
        <p:nvSpPr>
          <p:cNvPr id="60" name="Text 58"/>
          <p:cNvSpPr/>
          <p:nvPr/>
        </p:nvSpPr>
        <p:spPr>
          <a:xfrm>
            <a:off x="7114032" y="4242816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0.668</a:t>
            </a:r>
            <a:endParaRPr lang="en-US" sz="870" dirty="0"/>
          </a:p>
        </p:txBody>
      </p:sp>
      <p:sp>
        <p:nvSpPr>
          <p:cNvPr id="61" name="Text 59"/>
          <p:cNvSpPr/>
          <p:nvPr/>
        </p:nvSpPr>
        <p:spPr>
          <a:xfrm>
            <a:off x="8119872" y="4242816"/>
            <a:ext cx="12710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-0.003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548640" y="4517136"/>
            <a:ext cx="8915400" cy="393192"/>
          </a:xfrm>
          <a:prstGeom prst="rect">
            <a:avLst/>
          </a:prstGeom>
          <a:solidFill>
            <a:srgbClr val="E3F0D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" y="4636008"/>
            <a:ext cx="33284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FT 50epoch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4096512" y="4636008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A7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0.589</a:t>
            </a:r>
            <a:endParaRPr lang="en-US" sz="870" dirty="0"/>
          </a:p>
        </p:txBody>
      </p:sp>
      <p:sp>
        <p:nvSpPr>
          <p:cNvPr id="65" name="Text 63"/>
          <p:cNvSpPr/>
          <p:nvPr/>
        </p:nvSpPr>
        <p:spPr>
          <a:xfrm>
            <a:off x="5102352" y="4636008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A7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0.811</a:t>
            </a:r>
            <a:endParaRPr lang="en-US" sz="870" dirty="0"/>
          </a:p>
        </p:txBody>
      </p:sp>
      <p:sp>
        <p:nvSpPr>
          <p:cNvPr id="66" name="Text 64"/>
          <p:cNvSpPr/>
          <p:nvPr/>
        </p:nvSpPr>
        <p:spPr>
          <a:xfrm>
            <a:off x="6108192" y="4636008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A7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0.649</a:t>
            </a:r>
            <a:endParaRPr lang="en-US" sz="870" dirty="0"/>
          </a:p>
        </p:txBody>
      </p:sp>
      <p:sp>
        <p:nvSpPr>
          <p:cNvPr id="67" name="Text 65"/>
          <p:cNvSpPr/>
          <p:nvPr/>
        </p:nvSpPr>
        <p:spPr>
          <a:xfrm>
            <a:off x="7114032" y="4636008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A7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0.671</a:t>
            </a:r>
            <a:endParaRPr lang="en-US" sz="870" dirty="0"/>
          </a:p>
        </p:txBody>
      </p:sp>
      <p:sp>
        <p:nvSpPr>
          <p:cNvPr id="68" name="Text 66"/>
          <p:cNvSpPr/>
          <p:nvPr/>
        </p:nvSpPr>
        <p:spPr>
          <a:xfrm>
            <a:off x="8119872" y="4636008"/>
            <a:ext cx="12710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A7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</a:t>
            </a:r>
            <a:endParaRPr lang="en-US" sz="870" dirty="0"/>
          </a:p>
        </p:txBody>
      </p:sp>
      <p:sp>
        <p:nvSpPr>
          <p:cNvPr id="69" name="Shape 67"/>
          <p:cNvSpPr/>
          <p:nvPr/>
        </p:nvSpPr>
        <p:spPr>
          <a:xfrm>
            <a:off x="548640" y="4910328"/>
            <a:ext cx="891540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1792" y="5029200"/>
            <a:ext cx="33284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FT 60epoch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4096512" y="5029200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0.579</a:t>
            </a:r>
            <a:endParaRPr lang="en-US" sz="870" dirty="0"/>
          </a:p>
        </p:txBody>
      </p:sp>
      <p:sp>
        <p:nvSpPr>
          <p:cNvPr id="72" name="Text 70"/>
          <p:cNvSpPr/>
          <p:nvPr/>
        </p:nvSpPr>
        <p:spPr>
          <a:xfrm>
            <a:off x="5102352" y="5029200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0.795</a:t>
            </a:r>
            <a:endParaRPr lang="en-US" sz="870" dirty="0"/>
          </a:p>
        </p:txBody>
      </p:sp>
      <p:sp>
        <p:nvSpPr>
          <p:cNvPr id="73" name="Text 71"/>
          <p:cNvSpPr/>
          <p:nvPr/>
        </p:nvSpPr>
        <p:spPr>
          <a:xfrm>
            <a:off x="6108192" y="5029200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0.636</a:t>
            </a:r>
            <a:endParaRPr lang="en-US" sz="870" dirty="0"/>
          </a:p>
        </p:txBody>
      </p:sp>
      <p:sp>
        <p:nvSpPr>
          <p:cNvPr id="74" name="Text 72"/>
          <p:cNvSpPr/>
          <p:nvPr/>
        </p:nvSpPr>
        <p:spPr>
          <a:xfrm>
            <a:off x="7114032" y="5029200"/>
            <a:ext cx="85953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0.669</a:t>
            </a:r>
            <a:endParaRPr lang="en-US" sz="870" dirty="0"/>
          </a:p>
        </p:txBody>
      </p:sp>
      <p:sp>
        <p:nvSpPr>
          <p:cNvPr id="75" name="Text 73"/>
          <p:cNvSpPr/>
          <p:nvPr/>
        </p:nvSpPr>
        <p:spPr>
          <a:xfrm>
            <a:off x="8119872" y="5029200"/>
            <a:ext cx="127101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-0.010</a:t>
            </a:r>
            <a:endParaRPr lang="en-US" sz="870" dirty="0"/>
          </a:p>
        </p:txBody>
      </p:sp>
      <p:sp>
        <p:nvSpPr>
          <p:cNvPr id="76" name="Text 74"/>
          <p:cNvSpPr/>
          <p:nvPr/>
        </p:nvSpPr>
        <p:spPr>
          <a:xfrm>
            <a:off x="640080" y="5650992"/>
            <a:ext cx="89611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법: AP는 COCO AP@[IoU=0.50:0.95], AP50/AP75는 고정 IoU 기준, AR100은 maxDets=100 기준 recall이다.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40080" y="5961888"/>
            <a:ext cx="32918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 대비 최고 AP 개선: +0.098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| 해석과 다음 단계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감마는 underfit을 지나면 baseline을 안정적으로 넘어섰다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A80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Gamma-CenterNet 실험 정리 | 2026-05-21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694944" y="1444752"/>
            <a:ext cx="4800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4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모델 AP 비교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25880" y="4041648"/>
            <a:ext cx="3337560" cy="0"/>
          </a:xfrm>
          <a:prstGeom prst="line">
            <a:avLst/>
          </a:prstGeom>
          <a:noFill/>
          <a:ln w="12700">
            <a:solidFill>
              <a:srgbClr val="B9C2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3251149"/>
            <a:ext cx="438912" cy="790499"/>
          </a:xfrm>
          <a:prstGeom prst="rect">
            <a:avLst/>
          </a:prstGeom>
          <a:solidFill>
            <a:srgbClr val="2F3A45"/>
          </a:solidFill>
          <a:ln w="12700">
            <a:solidFill>
              <a:srgbClr val="2F3A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5608" y="2976829"/>
            <a:ext cx="5943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F3A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0.491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1307592" y="4206240"/>
            <a:ext cx="8412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2514600" y="2504084"/>
            <a:ext cx="438912" cy="15375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41448" y="2229764"/>
            <a:ext cx="5943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E7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0.577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2313432" y="4206240"/>
            <a:ext cx="8412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64ep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3520440" y="2399843"/>
            <a:ext cx="438912" cy="1641805"/>
          </a:xfrm>
          <a:prstGeom prst="rect">
            <a:avLst/>
          </a:prstGeom>
          <a:solidFill>
            <a:srgbClr val="3A7D44"/>
          </a:solidFill>
          <a:ln w="12700">
            <a:solidFill>
              <a:srgbClr val="3A7D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2125523"/>
            <a:ext cx="59436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A7D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0.589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3319272" y="4206240"/>
            <a:ext cx="8412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5F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 FT 50ep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1005840" y="4443984"/>
            <a:ext cx="164592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5F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 scale: 0.40~0.60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5806440" y="1444752"/>
            <a:ext cx="42976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4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783080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발표용 결론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26480" y="2221992"/>
            <a:ext cx="274320" cy="27432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A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295144"/>
            <a:ext cx="27432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37960" y="2240280"/>
            <a:ext cx="3017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4epoch는 AP 0.439로 underfit 상태였다.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126480" y="2752344"/>
            <a:ext cx="274320" cy="27432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A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825496"/>
            <a:ext cx="27432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7960" y="2770632"/>
            <a:ext cx="3017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64epoch까지 학습하자 AP 0.577로 baseline 0.491을 넘어섰다.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126480" y="3282696"/>
            <a:ext cx="274320" cy="274320"/>
          </a:xfrm>
          <a:prstGeom prst="rect">
            <a:avLst/>
          </a:prstGeom>
          <a:solidFill>
            <a:srgbClr val="E3F0DF"/>
          </a:solidFill>
          <a:ln w="12700">
            <a:solidFill>
              <a:srgbClr val="D3DA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355848"/>
            <a:ext cx="27432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7D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37960" y="3300984"/>
            <a:ext cx="3017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lr fine-tuning 후 50epoch checkpoint가 AP 0.589로 최고였다.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6126480" y="3813048"/>
            <a:ext cx="274320" cy="274320"/>
          </a:xfrm>
          <a:prstGeom prst="rect">
            <a:avLst/>
          </a:prstGeom>
          <a:solidFill>
            <a:srgbClr val="EEF2EF"/>
          </a:solidFill>
          <a:ln w="12700">
            <a:solidFill>
              <a:srgbClr val="D3DA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3886200"/>
            <a:ext cx="27432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537960" y="3831336"/>
            <a:ext cx="3017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단계는 gamma 분포와 예시 이미지를 확인해 학습 결과를 해석하는 것이다.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94944" y="5047488"/>
            <a:ext cx="94183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285232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분석 제안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514600" y="5230368"/>
            <a:ext cx="71323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1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감마 모델의 이미지별 예측 gamma 분포, 밝기와 gamma의 상관관계, 보정 전후 예시 이미지를 함께 시각화하면 연구 설명력이 좋아진다.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KDG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Gamma End-to-End Learning Results</dc:title>
  <dc:subject>Global Gamma CenterNet Results</dc:subject>
  <dc:creator>Codex</dc:creator>
  <cp:lastModifiedBy>Codex</cp:lastModifiedBy>
  <cp:revision>1</cp:revision>
  <dcterms:created xsi:type="dcterms:W3CDTF">2026-05-21T06:57:34Z</dcterms:created>
  <dcterms:modified xsi:type="dcterms:W3CDTF">2026-05-21T06:57:34Z</dcterms:modified>
</cp:coreProperties>
</file>